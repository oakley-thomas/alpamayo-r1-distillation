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88A"/>
                </a:solidFill>
                <a:latin typeface="Calibri"/>
              </a:rPr>
              <a:t>ALPAMAYO DISTILLATION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Teacher → Student Knowledge Distillation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BBD8"/>
                </a:solidFill>
                <a:latin typeface="Calibri"/>
              </a:rPr>
              <a:t>Compressing a 10B VLA reasoning model into a 2B onboard-ready student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3291840" cy="3474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3291840" cy="384048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92807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TEACHER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Alpamayo-1.5  ·  10B params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7752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C8DEF5"/>
                </a:solidFill>
                <a:latin typeface="Calibri"/>
              </a:rPr>
              <a:t>Cosmos-Reason2-8B backbone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8DEF5"/>
                </a:solidFill>
                <a:latin typeface="Calibri"/>
              </a:rPr>
              <a:t>Diffusion trajectory decoder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8DEF5"/>
                </a:solidFill>
                <a:latin typeface="Calibri"/>
              </a:rPr>
              <a:t>4-camera · bf16 · SDPA attn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00C88A"/>
                </a:solidFill>
                <a:latin typeface="Calibri"/>
              </a:rPr>
              <a:t>Outputs: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8DEF5"/>
                </a:solidFill>
                <a:latin typeface="Calibri"/>
              </a:rPr>
              <a:t>  Chain-of-thought reasoning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8DEF5"/>
                </a:solidFill>
                <a:latin typeface="Calibri"/>
              </a:rPr>
              <a:t>  Trajectory waypoints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8DEF5"/>
                </a:solidFill>
                <a:latin typeface="Calibri"/>
              </a:rPr>
              <a:t>  Top-k logits (k=32)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3172968"/>
            <a:ext cx="731520" cy="73152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17720" y="3108960"/>
            <a:ext cx="274320" cy="201168"/>
          </a:xfrm>
          <a:prstGeom prst="round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59" y="33375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C88A"/>
                </a:solidFill>
                <a:latin typeface="Calibri"/>
              </a:rPr>
              <a:t>Offline
Rollout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1828800"/>
            <a:ext cx="3291840" cy="3474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0600" y="1828800"/>
            <a:ext cx="3291840" cy="384048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892807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STUDENT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2860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Alpamayo-Student  ·  ~2B params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587752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C8DEF5"/>
                </a:solidFill>
                <a:latin typeface="Calibri"/>
              </a:rPr>
              <a:t>Qwen3-VL-2B-Instruct backbone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8DEF5"/>
                </a:solidFill>
                <a:latin typeface="Calibri"/>
              </a:rPr>
              <a:t>Flow-matching action decoder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8DEF5"/>
                </a:solidFill>
                <a:latin typeface="Calibri"/>
              </a:rPr>
              <a:t>Shared Qwen3 tokenizer ✓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4A9FFF"/>
                </a:solidFill>
                <a:latin typeface="Calibri"/>
              </a:rPr>
              <a:t>Targets: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8DEF5"/>
                </a:solidFill>
                <a:latin typeface="Calibri"/>
              </a:rPr>
              <a:t>  &lt;50ms latency (RTX 5080)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8DEF5"/>
                </a:solidFill>
                <a:latin typeface="Calibri"/>
              </a:rPr>
              <a:t>  Onboard real-time inference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8DEF5"/>
                </a:solidFill>
                <a:latin typeface="Calibri"/>
              </a:rPr>
              <a:t>  Reasoning + trajectory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288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8A"/>
                </a:solidFill>
                <a:latin typeface="Calibri"/>
              </a:rPr>
              <a:t>SUPERVISION SIGNALS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286000"/>
            <a:ext cx="338328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2286000"/>
            <a:ext cx="54864" cy="868680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232257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8A"/>
                </a:solidFill>
                <a:latin typeface="Calibri"/>
              </a:rPr>
              <a:t>L_KD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606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EF5"/>
                </a:solidFill>
                <a:latin typeface="Calibri"/>
              </a:rPr>
              <a:t>KL divergence on top-k
logits (τ=2.0), CoT +
trajectory tokens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246120"/>
            <a:ext cx="338328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3246120"/>
            <a:ext cx="54864" cy="86868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328269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FFF"/>
                </a:solidFill>
                <a:latin typeface="Calibri"/>
              </a:rPr>
              <a:t>L_traj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35661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EF5"/>
                </a:solidFill>
                <a:latin typeface="Calibri"/>
              </a:rPr>
              <a:t>Waypoint L2 + heading
loss vs. teacher trajectory
in metric space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4206240"/>
            <a:ext cx="338328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4206240"/>
            <a:ext cx="54864" cy="868680"/>
          </a:xfrm>
          <a:prstGeom prst="rect">
            <a:avLst/>
          </a:prstGeom>
          <a:solidFill>
            <a:srgbClr val="FF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5632" y="424281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A44"/>
                </a:solidFill>
                <a:latin typeface="Calibri"/>
              </a:rPr>
              <a:t>L_GT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452627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EF5"/>
                </a:solidFill>
                <a:latin typeface="Calibri"/>
              </a:rPr>
              <a:t>minADE vs. ground-truth
trajectory — anchors
student to reality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5212080"/>
            <a:ext cx="3383280" cy="502920"/>
          </a:xfrm>
          <a:prstGeom prst="rect">
            <a:avLst/>
          </a:prstGeom>
          <a:solidFill>
            <a:srgbClr val="05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528523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8A"/>
                </a:solidFill>
                <a:latin typeface="Calibri"/>
              </a:rPr>
              <a:t>α·L_KD + β·L_traj + γ·L_GT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554126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0A0C0"/>
                </a:solidFill>
                <a:latin typeface="Calibri"/>
              </a:rPr>
              <a:t>α=1.0   β=1.0   γ=0.5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06080"/>
                </a:solidFill>
                <a:latin typeface="Calibri"/>
              </a:rPr>
              <a:t>01 /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5F"/>
                </a:solidFill>
                <a:latin typeface="Calibri"/>
              </a:rPr>
              <a:t>STUDENT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  <a:latin typeface="Calibri"/>
              </a:rPr>
              <a:t>How the Student Processes a Driving Scene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719072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719072" cy="457200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225296"/>
            <a:ext cx="16093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463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4A5A6A"/>
                </a:solidFill>
                <a:latin typeface="Calibri"/>
              </a:rPr>
              <a:t>4 cameras
(320×576)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5A6A"/>
                </a:solidFill>
                <a:latin typeface="Calibri"/>
              </a:rPr>
              <a:t>Egomotion
history
(4 steps)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112263" y="3054096"/>
            <a:ext cx="60350" cy="109728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62556" y="2962656"/>
            <a:ext cx="45262" cy="292608"/>
          </a:xfrm>
          <a:prstGeom prst="round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40280" y="1188720"/>
            <a:ext cx="1719072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80" y="1188720"/>
            <a:ext cx="1719072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3432" y="1225296"/>
            <a:ext cx="16093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VISION
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737360"/>
            <a:ext cx="1463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4A5A6A"/>
                </a:solidFill>
                <a:latin typeface="Calibri"/>
              </a:rPr>
              <a:t>Qwen3-VL
built-in ViT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5A6A"/>
                </a:solidFill>
                <a:latin typeface="Calibri"/>
              </a:rPr>
              <a:t>4 cams
processed
independently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86784" y="3054096"/>
            <a:ext cx="60350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37076" y="2962656"/>
            <a:ext cx="45262" cy="29260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1188720"/>
            <a:ext cx="1719072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0" y="1188720"/>
            <a:ext cx="1719072" cy="45720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87952" y="1225296"/>
            <a:ext cx="16093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LLM
BACKBONE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1737360"/>
            <a:ext cx="1463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4A5A6A"/>
                </a:solidFill>
                <a:latin typeface="Calibri"/>
              </a:rPr>
              <a:t>Qwen3-VL
2B-Instruct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5A6A"/>
                </a:solidFill>
                <a:latin typeface="Calibri"/>
              </a:rPr>
              <a:t>LoRA r=32
adapters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5A6A"/>
                </a:solidFill>
                <a:latin typeface="Calibri"/>
              </a:rPr>
              <a:t>Shared
tokenizer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61304" y="3054096"/>
            <a:ext cx="60350" cy="109728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11596" y="2962656"/>
            <a:ext cx="45262" cy="292608"/>
          </a:xfrm>
          <a:prstGeom prst="round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1188720"/>
            <a:ext cx="1719072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1188720"/>
            <a:ext cx="1719072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62472" y="1225296"/>
            <a:ext cx="16093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CoT
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1737360"/>
            <a:ext cx="1463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4A5A6A"/>
                </a:solidFill>
                <a:latin typeface="Calibri"/>
              </a:rPr>
              <a:t>Chain-of-
thought
reasoning
tokens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5A6A"/>
                </a:solidFill>
                <a:latin typeface="Calibri"/>
              </a:rPr>
              <a:t>Autoregressve
generation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35823" y="3054096"/>
            <a:ext cx="6035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86115" y="2962656"/>
            <a:ext cx="45262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0" y="1188720"/>
            <a:ext cx="1719072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1188720"/>
            <a:ext cx="1719072" cy="4572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36992" y="1225296"/>
            <a:ext cx="16093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ACTION
DECODER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1737360"/>
            <a:ext cx="1463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4A5A6A"/>
                </a:solidFill>
                <a:latin typeface="Calibri"/>
              </a:rPr>
              <a:t>Flow-matching
decoder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5A6A"/>
                </a:solidFill>
                <a:latin typeface="Calibri"/>
              </a:rPr>
              <a:t>1–4 ODE
steps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5A6A"/>
                </a:solidFill>
                <a:latin typeface="Calibri"/>
              </a:rPr>
              <a:t>12 waypoints
@ 2Hz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10344" y="3054096"/>
            <a:ext cx="60350" cy="109728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60636" y="2962656"/>
            <a:ext cx="45262" cy="292608"/>
          </a:xfrm>
          <a:prstGeom prst="round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38360" y="1188720"/>
            <a:ext cx="1719072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38360" y="1188720"/>
            <a:ext cx="1719072" cy="457200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11512" y="1225296"/>
            <a:ext cx="16093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TRAJECTORY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1737360"/>
            <a:ext cx="1463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4A5A6A"/>
                </a:solidFill>
                <a:latin typeface="Calibri"/>
              </a:rPr>
              <a:t>x, y,
heading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5A6A"/>
                </a:solidFill>
                <a:latin typeface="Calibri"/>
              </a:rPr>
              <a:t>6-second
horizon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5A6A"/>
                </a:solidFill>
                <a:latin typeface="Calibri"/>
              </a:rPr>
              <a:t>&lt;50ms
latency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230368"/>
            <a:ext cx="35661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5230368"/>
            <a:ext cx="64008" cy="1325880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321807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8A"/>
                </a:solidFill>
                <a:latin typeface="Calibri"/>
              </a:rPr>
              <a:t>Shared Tokenizer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614416"/>
            <a:ext cx="33101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A6A"/>
                </a:solidFill>
                <a:latin typeface="Calibri"/>
              </a:rPr>
              <a:t>Qwen3 tokenizer identical to teacher → direct logit KD, no remapping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15968" y="5230368"/>
            <a:ext cx="35661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15968" y="5230368"/>
            <a:ext cx="64008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98848" y="5321807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Validated on Blackwell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98848" y="5614416"/>
            <a:ext cx="33101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A6A"/>
                </a:solidFill>
                <a:latin typeface="Calibri"/>
              </a:rPr>
              <a:t>Cosmos-Reason2 officially tested on Hopper + Blackwell (RTX 5080)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66176" y="5230368"/>
            <a:ext cx="35661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66176" y="5230368"/>
            <a:ext cx="64008" cy="132588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49056" y="5321807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FFF"/>
                </a:solidFill>
                <a:latin typeface="Calibri"/>
              </a:rPr>
              <a:t>LoRA Efficient Training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49056" y="5614416"/>
            <a:ext cx="33101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A6A"/>
                </a:solidFill>
                <a:latin typeface="Calibri"/>
              </a:rPr>
              <a:t>Frozen backbone in stages 1–2; LoRA r=32 unfrozen at stage 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5A6A"/>
                </a:solidFill>
                <a:latin typeface="Calibr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88A"/>
                </a:solidFill>
                <a:latin typeface="Calibri"/>
              </a:rPr>
              <a:t>TRAINING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Four-Stage Distillation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143000"/>
            <a:ext cx="2724912" cy="4160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1143000"/>
            <a:ext cx="2724912" cy="804672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79576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1417320"/>
            <a:ext cx="2542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VLM Warm-up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947672"/>
            <a:ext cx="2724912" cy="2743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965960"/>
            <a:ext cx="2587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C88A"/>
                </a:solidFill>
                <a:latin typeface="Calibri"/>
              </a:rPr>
              <a:t>Week 2 · Days 3–5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313432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EF5"/>
                </a:solidFill>
                <a:latin typeface="Calibri"/>
              </a:rPr>
              <a:t>Loss: L_KD (CoT 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880360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EF5"/>
                </a:solidFill>
                <a:latin typeface="Calibri"/>
              </a:rPr>
              <a:t>Freeze: Action decoder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447288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EF5"/>
                </a:solidFill>
                <a:latin typeface="Calibri"/>
              </a:rPr>
              <a:t>LR: 5e-5 (LoRA) / 1e-5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4014216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EF5"/>
                </a:solidFill>
                <a:latin typeface="Calibri"/>
              </a:rPr>
              <a:t>Epochs: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4581144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8A"/>
                </a:solidFill>
                <a:latin typeface="Calibri"/>
              </a:rPr>
              <a:t>Goal: Align student LLM
with driving-domain
language from teacher CoT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6976" y="1143000"/>
            <a:ext cx="2724912" cy="4160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36976" y="1143000"/>
            <a:ext cx="2724912" cy="80467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4136" y="1179576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Stage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1417320"/>
            <a:ext cx="2542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Action Head Training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36976" y="1947672"/>
            <a:ext cx="2724912" cy="2743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28416" y="1965960"/>
            <a:ext cx="2587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9FFF"/>
                </a:solidFill>
                <a:latin typeface="Calibri"/>
              </a:rPr>
              <a:t>Week 2–3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2313432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EF5"/>
                </a:solidFill>
                <a:latin typeface="Calibri"/>
              </a:rPr>
              <a:t>Loss: L_traj + L_GT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2880360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EF5"/>
                </a:solidFill>
                <a:latin typeface="Calibri"/>
              </a:rPr>
              <a:t>Freeze: Backbone + encoder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4136" y="3447288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EF5"/>
                </a:solidFill>
                <a:latin typeface="Calibri"/>
              </a:rPr>
              <a:t>LR: 1e-4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4136" y="4014216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EF5"/>
                </a:solidFill>
                <a:latin typeface="Calibri"/>
              </a:rPr>
              <a:t>Epochs: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4136" y="4581144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9FFF"/>
                </a:solidFill>
                <a:latin typeface="Calibri"/>
              </a:rPr>
              <a:t>Goal: Train flow-matching
decoder to mimic teacher
trajectories in metric space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143000"/>
            <a:ext cx="2724912" cy="4160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143000"/>
            <a:ext cx="2724912" cy="8046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179576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Stage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417320"/>
            <a:ext cx="2542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Joint Fine-tune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947672"/>
            <a:ext cx="2724912" cy="2743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965960"/>
            <a:ext cx="2587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5CF6"/>
                </a:solidFill>
                <a:latin typeface="Calibri"/>
              </a:rPr>
              <a:t>Week 3 · Days 3–7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313432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EF5"/>
                </a:solidFill>
                <a:latin typeface="Calibri"/>
              </a:rPr>
              <a:t>Loss: Full α·KD + β·traj + γ·GT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880360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EF5"/>
                </a:solidFill>
                <a:latin typeface="Calibri"/>
              </a:rPr>
              <a:t>Freeze: Nothing — all layers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447288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EF5"/>
                </a:solidFill>
                <a:latin typeface="Calibri"/>
              </a:rPr>
              <a:t>LR: 1e-5 cosine decay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014216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EF5"/>
                </a:solidFill>
                <a:latin typeface="Calibri"/>
              </a:rPr>
              <a:t>Epochs: 3 + grad checkpoint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581144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Calibri"/>
              </a:rPr>
              <a:t>Goal: End-to-end alignment
of reasoning and trajectory
across all components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15984" y="1143000"/>
            <a:ext cx="2724912" cy="4160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15984" y="1143000"/>
            <a:ext cx="2724912" cy="804672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53144" y="1179576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Stage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53144" y="1417320"/>
            <a:ext cx="2542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RL Post-training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15984" y="1947672"/>
            <a:ext cx="2724912" cy="2743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07424" y="1965960"/>
            <a:ext cx="2587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7A2F"/>
                </a:solidFill>
                <a:latin typeface="Calibri"/>
              </a:rPr>
              <a:t>Week 4 (optional)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53144" y="2313432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EF5"/>
                </a:solidFill>
                <a:latin typeface="Calibri"/>
              </a:rPr>
              <a:t>Status: Default SKIP for v1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53144" y="2880360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EF5"/>
                </a:solidFill>
                <a:latin typeface="Calibri"/>
              </a:rPr>
              <a:t>Mirror Alpamayo-1.5 RL setup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53144" y="3447288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EF5"/>
                </a:solidFill>
                <a:latin typeface="Calibri"/>
              </a:rPr>
              <a:t>Reward: reasoning quality
+ trajectory alignment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53144" y="4581144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7A2F"/>
                </a:solidFill>
                <a:latin typeface="Calibri"/>
              </a:rPr>
              <a:t>Goal: Improve CoT–trajectory
alignment beyond what
supervised KD achieves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" y="5486400"/>
            <a:ext cx="11475720" cy="1078992"/>
          </a:xfrm>
          <a:prstGeom prst="rect">
            <a:avLst/>
          </a:prstGeom>
          <a:solidFill>
            <a:srgbClr val="05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577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8A"/>
                </a:solidFill>
                <a:latin typeface="Calibri"/>
              </a:rPr>
              <a:t>EVALUATION  ·  Open-loop at end of Stage 3: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5559552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minADE / minFDE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583387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A8C8"/>
                </a:solidFill>
                <a:latin typeface="Calibri"/>
              </a:rPr>
              <a:t>k=1 and k=6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5559552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Lateral RMSE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583387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A8C8"/>
                </a:solidFill>
                <a:latin typeface="Calibri"/>
              </a:rPr>
              <a:t>safety-critical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59" y="5559552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CoT Alignment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59" y="583387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A8C8"/>
                </a:solidFill>
                <a:latin typeface="Calibri"/>
              </a:rPr>
              <a:t>teacher judge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12680" y="5559552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Latency p50/p95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583387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A8C8"/>
                </a:solidFill>
                <a:latin typeface="Calibri"/>
              </a:rPr>
              <a:t>RTX 5080 fp16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06080"/>
                </a:solidFill>
                <a:latin typeface="Calibri"/>
              </a:rPr>
              <a:t>03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